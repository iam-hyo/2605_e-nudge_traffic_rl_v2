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1097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9FB3D9"/>
                </a:solidFill>
                <a:latin typeface="Pretendard"/>
                <a:ea typeface="Pretendard"/>
              </a:rPr>
              <a:t>E-NUDGE PROJECT · RESULT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383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</a:rPr>
              <a:t>강남구 실도로망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</a:rPr>
              <a:t>최소연료 경로탐색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700" b="1">
                <a:solidFill>
                  <a:srgbClr val="8FB4F5"/>
                </a:solidFill>
                <a:latin typeface="Pretendard"/>
                <a:ea typeface="Pretendard"/>
              </a:rPr>
              <a:t>강화학습 재실험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3383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C9D4E8"/>
                </a:solidFill>
                <a:latin typeface="Pretendard"/>
                <a:ea typeface="Pretendard"/>
              </a:rPr>
              <a:t>신호·연료 인식 DQN으로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C9D4E8"/>
                </a:solidFill>
                <a:latin typeface="Pretendard"/>
                <a:ea typeface="Pretendard"/>
              </a:rPr>
              <a:t>"가장 짧은 길이 가장 많은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C9D4E8"/>
                </a:solidFill>
                <a:latin typeface="Pretendard"/>
                <a:ea typeface="Pretendard"/>
              </a:rPr>
              <a:t> 연료를 쓴다"를 1995노드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C9D4E8"/>
                </a:solidFill>
                <a:latin typeface="Pretendard"/>
                <a:ea typeface="Pretendard"/>
              </a:rPr>
              <a:t> 실데이터로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7E8EB0"/>
                </a:solidFill>
                <a:latin typeface="Pretendard"/>
                <a:ea typeface="Pretendard"/>
              </a:rPr>
              <a:t>2026-06-08 · output/08_1412_gangnam_v2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371600"/>
            <a:ext cx="3429000" cy="1508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2D6CDF"/>
                </a:solidFill>
                <a:latin typeface="Pretendard"/>
                <a:ea typeface="Pretendard"/>
              </a:rPr>
              <a:t>−24.3%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2140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신논현→수서 peak 연료절감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(연료최단 vs 거리최단)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71600"/>
            <a:ext cx="3429000" cy="1508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5544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2D6CDF"/>
                </a:solidFill>
                <a:latin typeface="Pretendard"/>
                <a:ea typeface="Pretendard"/>
              </a:rPr>
              <a:t>0% →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12140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OD-3 RL 도달률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(v1 실패 → v2 해결)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154680"/>
            <a:ext cx="3429000" cy="1508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33756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2D6CDF"/>
                </a:solidFill>
                <a:latin typeface="Pretendard"/>
                <a:ea typeface="Pretendard"/>
              </a:rPr>
              <a:t>900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90448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3 OD × 2 시간대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× 30회 × 5 모델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154680"/>
            <a:ext cx="3429000" cy="1508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33756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2D6CDF"/>
                </a:solidFill>
                <a:latin typeface="Pretendard"/>
                <a:ea typeface="Pretendard"/>
              </a:rPr>
              <a:t>1995 노드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90448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강남구 실도로망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2439 링크 · 231 신호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7091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Pretendard"/>
                <a:ea typeface="Pretendard"/>
              </a:rPr>
              <a:t>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5029200"/>
            <a:ext cx="1138428" cy="310896"/>
          </a:xfrm>
          <a:prstGeom prst="roundRect">
            <a:avLst/>
          </a:prstGeom>
          <a:solidFill>
            <a:srgbClr val="EAF1FC"/>
          </a:solidFill>
          <a:ln w="127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환경 정비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20740" y="5029200"/>
            <a:ext cx="1138428" cy="310896"/>
          </a:xfrm>
          <a:prstGeom prst="roundRect">
            <a:avLst/>
          </a:prstGeom>
          <a:solidFill>
            <a:srgbClr val="EAF1FC"/>
          </a:solidFill>
          <a:ln w="127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보상 설계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5029200"/>
            <a:ext cx="1440180" cy="310896"/>
          </a:xfrm>
          <a:prstGeom prst="roundRect">
            <a:avLst/>
          </a:prstGeom>
          <a:solidFill>
            <a:srgbClr val="EAF1FC"/>
          </a:solidFill>
          <a:ln w="127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동적 커리큘럼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8532" y="5029200"/>
            <a:ext cx="1138428" cy="310896"/>
          </a:xfrm>
          <a:prstGeom prst="roundRect">
            <a:avLst/>
          </a:prstGeom>
          <a:solidFill>
            <a:srgbClr val="EAF1FC"/>
          </a:solidFill>
          <a:ln w="127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결과 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31552" y="5029200"/>
            <a:ext cx="836676" cy="310896"/>
          </a:xfrm>
          <a:prstGeom prst="roundRect">
            <a:avLst/>
          </a:prstGeom>
          <a:solidFill>
            <a:srgbClr val="EAF1FC"/>
          </a:solidFill>
          <a:ln w="127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시각화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6CDF"/>
                </a:solidFill>
                <a:latin typeface="Pretendard"/>
                <a:ea typeface="Pretendard"/>
              </a:rPr>
              <a:t>PROBLEM · ENVIRONMENT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F2937"/>
                </a:solidFill>
                <a:latin typeface="Pretendard"/>
                <a:ea typeface="Pretendard"/>
              </a:rPr>
              <a:t>진단된 4대 결함을 코드로 해소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5024"/>
            <a:ext cx="11064240" cy="16459"/>
          </a:xfrm>
          <a:prstGeom prst="rect">
            <a:avLst/>
          </a:prstGeom>
          <a:solidFill>
            <a:srgbClr val="E2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Pretendard"/>
                <a:ea typeface="Pretendard"/>
              </a:rPr>
              <a:t>v1: Dijkstra 최단경로조차 통행 불가 → 에이전트 도달률 0%. 4개 결함을 정비해 학습 가능 환경으로 전환.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106424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95144"/>
            <a:ext cx="457200" cy="45720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  <a:ea typeface="Pretendard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85416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E23B3B"/>
                </a:solidFill>
                <a:latin typeface="Pretendard"/>
                <a:ea typeface="Pretendard"/>
              </a:rPr>
              <a:t>원인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직진콘 ±5.7° 과소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18541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2D6CDF"/>
                </a:solidFill>
                <a:latin typeface="Pretendard"/>
                <a:ea typeface="Pretendard"/>
              </a:rPr>
              <a:t>대책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Pretendard"/>
                <a:ea typeface="Pretendard"/>
              </a:rPr>
              <a:t>_movement_type 임계 0.1→0.5 (±30°)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185416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6A858"/>
                </a:solidFill>
                <a:latin typeface="Pretendard"/>
                <a:ea typeface="Pretendard"/>
              </a:rPr>
              <a:t>효과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6A858"/>
                </a:solidFill>
                <a:latin typeface="Pretendard"/>
                <a:ea typeface="Pretendard"/>
              </a:rPr>
              <a:t>곡선도로 직진 인정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99815"/>
            <a:ext cx="1106424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337559"/>
            <a:ext cx="457200" cy="45720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  <a:ea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27832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E23B3B"/>
                </a:solidFill>
                <a:latin typeface="Pretendard"/>
                <a:ea typeface="Pretendard"/>
              </a:rPr>
              <a:t>원인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좌표축 뒤바뀜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227832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2D6CDF"/>
                </a:solidFill>
                <a:latin typeface="Pretendard"/>
                <a:ea typeface="Pretendard"/>
              </a:rPr>
              <a:t>대책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Pretendard"/>
                <a:ea typeface="Pretendard"/>
              </a:rPr>
              <a:t>pos를 [경도(x), 위도(y)]로 정규화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227832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6A858"/>
                </a:solidFill>
                <a:latin typeface="Pretendard"/>
                <a:ea typeface="Pretendard"/>
              </a:rPr>
              <a:t>효과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6A858"/>
                </a:solidFill>
                <a:latin typeface="Pretendard"/>
                <a:ea typeface="Pretendard"/>
              </a:rPr>
              <a:t>좌/우회전 부호 정상화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42231"/>
            <a:ext cx="1106424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379975"/>
            <a:ext cx="457200" cy="45720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  <a:ea typeface="Pretendard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70247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E23B3B"/>
                </a:solidFill>
                <a:latin typeface="Pretendard"/>
                <a:ea typeface="Pretendard"/>
              </a:rPr>
              <a:t>원인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무신호 노드 좌회전 차단(93%)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270247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2D6CDF"/>
                </a:solidFill>
                <a:latin typeface="Pretendard"/>
                <a:ea typeface="Pretendard"/>
              </a:rPr>
              <a:t>대책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Pretendard"/>
                <a:ea typeface="Pretendard"/>
              </a:rPr>
              <a:t>_node_allows_left 신호유무 최우선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270247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6A858"/>
                </a:solidFill>
                <a:latin typeface="Pretendard"/>
                <a:ea typeface="Pretendard"/>
              </a:rPr>
              <a:t>효과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6A858"/>
                </a:solidFill>
                <a:latin typeface="Pretendard"/>
                <a:ea typeface="Pretendard"/>
              </a:rPr>
              <a:t>좌회전금지 93%→4.7%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84647"/>
            <a:ext cx="1106424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422391"/>
            <a:ext cx="457200" cy="45720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  <a:ea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12663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E23B3B"/>
                </a:solidFill>
                <a:latin typeface="Pretendard"/>
                <a:ea typeface="Pretendard"/>
              </a:rPr>
              <a:t>원인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Dijkstra 회전제한 미인지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312663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2D6CDF"/>
                </a:solidFill>
                <a:latin typeface="Pretendard"/>
                <a:ea typeface="Pretendard"/>
              </a:rPr>
              <a:t>대책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Pretendard"/>
                <a:ea typeface="Pretendard"/>
              </a:rPr>
              <a:t>state=(node,prev)+turn-filter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5312663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6A858"/>
                </a:solidFill>
                <a:latin typeface="Pretendard"/>
                <a:ea typeface="Pretendard"/>
              </a:rPr>
              <a:t>효과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6A858"/>
                </a:solidFill>
                <a:latin typeface="Pretendard"/>
                <a:ea typeface="Pretendard"/>
              </a:rPr>
              <a:t>도달성 0%→99.3%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Pretendard"/>
                <a:ea typeface="Pretendard"/>
              </a:rPr>
              <a:t>E-Nudge · 강남구 최소연료 경로탐색 RL · 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B6472"/>
                </a:solidFill>
                <a:latin typeface="Pretendard"/>
                <a:ea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6CDF"/>
                </a:solidFill>
                <a:latin typeface="Pretendard"/>
                <a:ea typeface="Pretendard"/>
              </a:rPr>
              <a:t>EXPERIMENT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F2937"/>
                </a:solidFill>
                <a:latin typeface="Pretendard"/>
                <a:ea typeface="Pretendard"/>
              </a:rPr>
              <a:t>현실적 OD 3쌍 — 출근시간 통행 동선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5024"/>
            <a:ext cx="11064240" cy="16459"/>
          </a:xfrm>
          <a:prstGeom prst="rect">
            <a:avLst/>
          </a:prstGeom>
          <a:solidFill>
            <a:srgbClr val="E2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n_od1_sinnonhyeon_suseo_full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573842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61722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Pretendard"/>
                <a:ea typeface="Pretendard"/>
              </a:rPr>
              <a:t>OD-1 신논현→수서 · 파랑=거리최단 주황=연료최단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60350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D6CDF"/>
                </a:solidFill>
                <a:latin typeface="Pretendard"/>
                <a:ea typeface="Pretendard"/>
              </a:rPr>
              <a:t>OD-1  </a:t>
            </a:r>
            <a:r>
              <a:rPr sz="1500" b="1">
                <a:solidFill>
                  <a:srgbClr val="1F2937"/>
                </a:solidFill>
                <a:latin typeface="Pretendard"/>
                <a:ea typeface="Pretendard"/>
              </a:rPr>
              <a:t>신논현 → 수서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342695 → 613667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5669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강남대로 정체 통과 vs 우회 — 신호회피 효과 최대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60350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5526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D6CDF"/>
                </a:solidFill>
                <a:latin typeface="Pretendard"/>
                <a:ea typeface="Pretendard"/>
              </a:rPr>
              <a:t>OD-2  </a:t>
            </a:r>
            <a:r>
              <a:rPr sz="1500" b="1">
                <a:solidFill>
                  <a:srgbClr val="1F2937"/>
                </a:solidFill>
                <a:latin typeface="Pretendard"/>
                <a:ea typeface="Pretendard"/>
              </a:rPr>
              <a:t>양재 → 영동대교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338734 → 342812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50208"/>
            <a:ext cx="5669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경부선 진입→영동대로 북상 한강도하 출근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60350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7258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D6CDF"/>
                </a:solidFill>
                <a:latin typeface="Pretendard"/>
                <a:ea typeface="Pretendard"/>
              </a:rPr>
              <a:t>OD-3  </a:t>
            </a:r>
            <a:r>
              <a:rPr sz="1500" b="1">
                <a:solidFill>
                  <a:srgbClr val="1F2937"/>
                </a:solidFill>
                <a:latin typeface="Pretendard"/>
                <a:ea typeface="Pretendard"/>
              </a:rPr>
              <a:t>세곡 → 삼성(GBD)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340301 → 341509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67528"/>
            <a:ext cx="5669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주거지구→국제업무지구, 신호 밀집 도심 통과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8076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무작위 start/goal 폐지 · degree≥3·도달성 검증 · 동적 OD 커리큘럼 학습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Pretendard"/>
                <a:ea typeface="Pretendard"/>
              </a:rPr>
              <a:t>E-Nudge · 강남구 최소연료 경로탐색 RL · 2026-06-08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B6472"/>
                </a:solidFill>
                <a:latin typeface="Pretendard"/>
                <a:ea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6CDF"/>
                </a:solidFill>
                <a:latin typeface="Pretendard"/>
                <a:ea typeface="Pretendard"/>
              </a:rPr>
              <a:t>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F2937"/>
                </a:solidFill>
                <a:latin typeface="Pretendard"/>
                <a:ea typeface="Pretendard"/>
              </a:rPr>
              <a:t>OD-3 도달 해결 + 신논현 −24%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5024"/>
            <a:ext cx="11064240" cy="16459"/>
          </a:xfrm>
          <a:prstGeom prst="rect">
            <a:avLst/>
          </a:prstGeom>
          <a:solidFill>
            <a:srgbClr val="E2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2194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Pretendard"/>
                <a:ea typeface="Pretendard"/>
              </a:rPr>
              <a:t>① OD-3 RL 도달률 — 완전 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Pretendard"/>
                <a:ea typeface="Pretendard"/>
              </a:rPr>
              <a:t>rl_base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860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23B3B"/>
                </a:solidFill>
                <a:latin typeface="Pretendard"/>
                <a:ea typeface="Pretendard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860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6A858"/>
                </a:solidFill>
                <a:latin typeface="Pretendard"/>
                <a:ea typeface="Pretendard"/>
              </a:rPr>
              <a:t>97% / 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7004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Pretendard"/>
                <a:ea typeface="Pretendard"/>
              </a:rPr>
              <a:t>rl_signal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7004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23B3B"/>
                </a:solidFill>
                <a:latin typeface="Pretendard"/>
                <a:ea typeface="Pretendard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670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700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6A858"/>
                </a:solidFill>
                <a:latin typeface="Pretendard"/>
                <a:ea typeface="Pretendard"/>
              </a:rPr>
              <a:t>100% /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5409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Pretendard"/>
                <a:ea typeface="Pretendard"/>
              </a:rPr>
              <a:t>rl_attn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05409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23B3B"/>
                </a:solidFill>
                <a:latin typeface="Pretendard"/>
                <a:ea typeface="Pretendard"/>
              </a:rPr>
              <a:t>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05409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05409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6A858"/>
                </a:solidFill>
                <a:latin typeface="Pretendard"/>
                <a:ea typeface="Pretendard"/>
              </a:rPr>
              <a:t>100% /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9300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Pretendard"/>
                <a:ea typeface="Pretendard"/>
              </a:rPr>
              <a:t>U턴 300 + 재방문 50 + 동적 부스트 → stub 루프 탈출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00200"/>
            <a:ext cx="5394960" cy="2194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Pretendard"/>
                <a:ea typeface="Pretendard"/>
              </a:rPr>
              <a:t>② 신논현→수서 peak 연료 (vs 거리최단)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2860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② fuel_TDD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313432"/>
            <a:ext cx="1799368" cy="20116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03288" y="22677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1298 (−24.3%)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6700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④ rl_signal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97479"/>
            <a:ext cx="1931063" cy="20116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34983" y="26517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1393 (−18.8%)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05409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③ rl_base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3081527"/>
            <a:ext cx="1989286" cy="201168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93206" y="303580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5B6472"/>
                </a:solidFill>
                <a:latin typeface="Pretendard"/>
                <a:ea typeface="Pretendard"/>
              </a:rPr>
              <a:t>1435 (−16.3%)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43814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① shortest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465575"/>
            <a:ext cx="2377440" cy="201168"/>
          </a:xfrm>
          <a:prstGeom prst="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81359" y="341985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E23B3B"/>
                </a:solidFill>
                <a:latin typeface="Pretendard"/>
                <a:ea typeface="Pretendard"/>
              </a:rPr>
              <a:t>1715 (—)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069080"/>
            <a:ext cx="11064240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2245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종합 </a:t>
            </a:r>
            <a:r>
              <a:rPr sz="1300" b="0">
                <a:solidFill>
                  <a:srgbClr val="D6E0F2"/>
                </a:solidFill>
                <a:latin typeface="Pretendard"/>
                <a:ea typeface="Pretendard"/>
              </a:rPr>
              <a:t>연료최단 TDD −11.1% · RL signal 도달케이스 −1.5% · 거리최단은 정체 직진으로 대기 1174s(최악)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8FB4F5"/>
                </a:solidFill>
                <a:latin typeface="Pretendard"/>
                <a:ea typeface="Pretendard"/>
              </a:rPr>
              <a:t>→ </a:t>
            </a: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"거리 최소화 ≠ 연료 최소화"를 강남 1995노드 실데이터로 정량 입증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Pretendard"/>
                <a:ea typeface="Pretendard"/>
              </a:rPr>
              <a:t>E-Nudge · 강남구 최소연료 경로탐색 RL · 2026-06-08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B6472"/>
                </a:solidFill>
                <a:latin typeface="Pretendard"/>
                <a:ea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6CDF"/>
                </a:solidFill>
                <a:latin typeface="Pretendard"/>
                <a:ea typeface="Pretendard"/>
              </a:rPr>
              <a:t>KPI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F2937"/>
                </a:solidFill>
                <a:latin typeface="Pretendard"/>
                <a:ea typeface="Pretendard"/>
              </a:rPr>
              <a:t>전 모델 × OD KPI (peak 08:00, 30회 평균)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5024"/>
            <a:ext cx="11064240" cy="16459"/>
          </a:xfrm>
          <a:prstGeom prst="rect">
            <a:avLst/>
          </a:prstGeom>
          <a:solidFill>
            <a:srgbClr val="E2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926080"/>
                <a:gridCol w="1828800"/>
                <a:gridCol w="1737360"/>
                <a:gridCol w="1645920"/>
                <a:gridCol w="1737360"/>
              </a:tblGrid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모델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연료(mL)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vs 최단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대기(s)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도달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OD-1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① 거리최단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1715±49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—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1174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100%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② 연료최단 TDD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1298±38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D6CDF"/>
                          </a:solidFill>
                          <a:latin typeface="Pretendard"/>
                          <a:ea typeface="Pretendard"/>
                        </a:rPr>
                        <a:t>−24.3%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285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100%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④ rl_signal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1393±85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D6CDF"/>
                          </a:solidFill>
                          <a:latin typeface="Pretendard"/>
                          <a:ea typeface="Pretendard"/>
                        </a:rPr>
                        <a:t>−18.8%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229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100%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⑤ rl_attn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1502±155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D6CDF"/>
                          </a:solidFill>
                          <a:latin typeface="Pretendard"/>
                          <a:ea typeface="Pretendard"/>
                        </a:rPr>
                        <a:t>−12.4%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97%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OD-2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① 거리최단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1107±20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—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610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100%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② 연료최단 TDD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1014±39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D6CDF"/>
                          </a:solidFill>
                          <a:latin typeface="Pretendard"/>
                          <a:ea typeface="Pretendard"/>
                        </a:rPr>
                        <a:t>−8.4%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225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100%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④ rl_signal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1154±135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23B3B"/>
                          </a:solidFill>
                          <a:latin typeface="Pretendard"/>
                          <a:ea typeface="Pretendard"/>
                        </a:rPr>
                        <a:t>+4.3%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470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100%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OD-3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① 거리최단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1368±43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631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② 연료최단 TDD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1290±46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D6CDF"/>
                          </a:solidFill>
                          <a:latin typeface="Pretendard"/>
                          <a:ea typeface="Pretendard"/>
                        </a:rPr>
                        <a:t>−5.7%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507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100%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④ rl_signal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1457±204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23B3B"/>
                          </a:solidFill>
                          <a:latin typeface="Pretendard"/>
                          <a:ea typeface="Pretendard"/>
                        </a:rPr>
                        <a:t>+6.5%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606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100%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Pretendard"/>
                <a:ea typeface="Pretendard"/>
              </a:rPr>
              <a:t>E-Nudge · 강남구 최소연료 경로탐색 RL · 2026-06-08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B6472"/>
                </a:solidFill>
                <a:latin typeface="Pretendard"/>
                <a:ea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6CDF"/>
                </a:solidFill>
                <a:latin typeface="Pretendard"/>
                <a:ea typeface="Pretendard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F2937"/>
                </a:solidFill>
                <a:latin typeface="Pretendard"/>
                <a:ea typeface="Pretendard"/>
              </a:rPr>
              <a:t>⭐ Attention 역전 — 12x12 최고 → 강남 최악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5024"/>
            <a:ext cx="11064240" cy="16459"/>
          </a:xfrm>
          <a:prstGeom prst="rect">
            <a:avLst/>
          </a:prstGeom>
          <a:solidFill>
            <a:srgbClr val="E2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1920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Pretendard"/>
                <a:ea typeface="Pretendard"/>
              </a:rPr>
              <a:t>RL 모델 순위 (vs 최단, 낮을수록 우수)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B6472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12x12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4884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강남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7802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B6472"/>
                </a:solidFill>
                <a:latin typeface="Pretendard"/>
                <a:ea typeface="Pretendard"/>
              </a:rPr>
              <a:t>1위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780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D6CDF"/>
                </a:solidFill>
                <a:latin typeface="Pretendard"/>
                <a:ea typeface="Pretendard"/>
              </a:rPr>
              <a:t>⑤attn −16.6%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7802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③base −3.8%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072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B6472"/>
                </a:solidFill>
                <a:latin typeface="Pretendard"/>
                <a:ea typeface="Pretendard"/>
              </a:rPr>
              <a:t>2위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0720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④signal −13.3%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80720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④signal −1.5%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136391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B6472"/>
                </a:solidFill>
                <a:latin typeface="Pretendard"/>
                <a:ea typeface="Pretendard"/>
              </a:rPr>
              <a:t>3위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136391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③base −12.1%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136391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23B3B"/>
                </a:solidFill>
                <a:latin typeface="Pretendard"/>
                <a:ea typeface="Pretendard"/>
              </a:rPr>
              <a:t>⑤attn +0.4%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6276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Pretendard"/>
                <a:ea typeface="Pretendard"/>
              </a:rPr>
              <a:t>역전 원인 4가지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0574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D6CDF"/>
                </a:solidFill>
                <a:latin typeface="Pretendard"/>
                <a:ea typeface="Pretendard"/>
              </a:rPr>
              <a:t>① 과제 성격 변화(결정적)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1343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Pretendard"/>
                <a:ea typeface="Pretendard"/>
              </a:rPr>
              <a:t>12x12 신호 67%·신호함정=attn 홈그라운드 → 강남 신호 11.6%·토폴로지 주행성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986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D6CDF"/>
                </a:solidFill>
                <a:latin typeface="Pretendard"/>
                <a:ea typeface="Pretendard"/>
              </a:rPr>
              <a:t>② 예고된 리스크 현실화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1546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Pretendard"/>
                <a:ea typeface="Pretendard"/>
              </a:rPr>
              <a:t>12x12 §8: attn은 1.5× epoch 필요 → 동일 15000ep로 attn만 under-fit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73989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D6CDF"/>
                </a:solidFill>
                <a:latin typeface="Pretendard"/>
                <a:ea typeface="Pretendard"/>
              </a:rPr>
              <a:t>③ 페널티 지배 + 3-OD 분산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9592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Pretendard"/>
                <a:ea typeface="Pretendard"/>
              </a:rPr>
              <a:t>목표가 연료최소→루프회피·도달로 이동, 느린 attn 불리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5811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D6CDF"/>
                </a:solidFill>
                <a:latin typeface="Pretendard"/>
                <a:ea typeface="Pretendard"/>
              </a:rPr>
              <a:t>④ 강남은 극단함정 아님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837176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Pretendard"/>
                <a:ea typeface="Pretendard"/>
              </a:rPr>
              <a:t>fuel_TDD도 −11%(12x12 −20%), 미세최적화 여지 작음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32120"/>
            <a:ext cx="11064240" cy="84124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6509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8FB4F5"/>
                </a:solidFill>
                <a:latin typeface="Pretendard"/>
                <a:ea typeface="Pretendard"/>
              </a:rPr>
              <a:t>한 줄: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</a:rPr>
              <a:t>12x12는 attention의 시험문제(신호 식별), 강남은 robustness 시험문제(하드 그래프 항행).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        과제가 바뀌니 모델 순위가 뒤집혔다.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Pretendard"/>
                <a:ea typeface="Pretendard"/>
              </a:rPr>
              <a:t>E-Nudge · 강남구 최소연료 경로탐색 RL · 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B6472"/>
                </a:solidFill>
                <a:latin typeface="Pretendard"/>
                <a:ea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D6CDF"/>
                </a:solidFill>
                <a:latin typeface="Pretendard"/>
                <a:ea typeface="Pretendard"/>
              </a:rPr>
              <a:t>NEXT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F2937"/>
                </a:solidFill>
                <a:latin typeface="Pretendard"/>
                <a:ea typeface="Pretendard"/>
              </a:rPr>
              <a:t>다음 방향성 — 모델 · 서빙 · 기대효과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5024"/>
            <a:ext cx="11064240" cy="16459"/>
          </a:xfrm>
          <a:prstGeom prst="rect">
            <a:avLst/>
          </a:prstGeom>
          <a:solidFill>
            <a:srgbClr val="E2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66160" cy="5669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1  모델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보상 anneal (최우선) — 페널티 점진감쇠로 연료최적성 회복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99815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attention 공정 재학습 (1.5~2× epoch)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67911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sparse-attention — 신호 노드 한정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36007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fuel-potential shaping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04103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단계 커리큘럼 정식화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554480"/>
            <a:ext cx="356616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554480"/>
            <a:ext cx="3566160" cy="566928"/>
          </a:xfrm>
          <a:prstGeom prst="rect">
            <a:avLst/>
          </a:prstGeom>
          <a:solidFill>
            <a:srgbClr val="24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6276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2  실제 서빙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331720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24386B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RL 1-step 추론(ms) → 실시간 라우팅 (TDD는 전체 Dijkstra라 느림)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099815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24386B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모델-프리 → 실데이터 미비 지역 강점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867911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24386B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선결: 일방통행·회전제한·SPAT 정합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636007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24386B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임의 OD 일반화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5404103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24386B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TMAP/Kakao A/B → 에코모드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554480"/>
            <a:ext cx="356616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19" y="1554480"/>
            <a:ext cx="3566160" cy="566928"/>
          </a:xfrm>
          <a:prstGeom prst="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16276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3  기대효과·한계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331720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E23B3B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[+] 출근첨두 연료 −24%(오라클)·−19%(RL)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099815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E23B3B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[+] 실 도로망 RL 학습 성립 증명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867911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E23B3B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[−] 신호회피 이득 첨두·OD 의존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636007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E23B3B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[−] 페널티-연료최적성 트레이드오프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5404103"/>
            <a:ext cx="3154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00" b="1">
                <a:solidFill>
                  <a:srgbClr val="E23B3B"/>
                </a:solidFill>
                <a:latin typeface="Pretendard"/>
                <a:ea typeface="Pretendard"/>
              </a:rPr>
              <a:t>• </a:t>
            </a:r>
            <a:r>
              <a:rPr sz="1100" b="0">
                <a:solidFill>
                  <a:srgbClr val="1F2937"/>
                </a:solidFill>
                <a:latin typeface="Pretendard"/>
                <a:ea typeface="Pretendard"/>
              </a:rPr>
              <a:t>[−] 실도로 데이터 정합 미완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Pretendard"/>
                <a:ea typeface="Pretendard"/>
              </a:rPr>
              <a:t>E-Nudge · 강남구 최소연료 경로탐색 RL · 2026-06-08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B6472"/>
                </a:solidFill>
                <a:latin typeface="Pretendard"/>
                <a:ea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FB4F5"/>
                </a:solidFill>
                <a:latin typeface="Pretendard"/>
                <a:ea typeface="Pretendard"/>
              </a:rPr>
              <a:t>CONCLUSION</a:t>
            </a:r>
            <a:r>
              <a:rPr sz="2000" b="1">
                <a:solidFill>
                  <a:srgbClr val="FFFFFF"/>
                </a:solidFill>
                <a:latin typeface="Pretendard"/>
                <a:ea typeface="Pretendard"/>
              </a:rPr>
              <a:t>  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Pretendard"/>
                <a:ea typeface="Pretendard"/>
              </a:rPr>
              <a:t>환경 정비 4종 + 보상 설계 + 동적 OD 커리큘럼으로,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Pretendard"/>
                <a:ea typeface="Pretendard"/>
              </a:rPr>
              <a:t>v1의 도달률 0% 실패를 </a:t>
            </a:r>
            <a:r>
              <a:rPr sz="1800" b="1">
                <a:solidFill>
                  <a:srgbClr val="2D6CDF"/>
                </a:solidFill>
                <a:latin typeface="Pretendard"/>
                <a:ea typeface="Pretendard"/>
              </a:rPr>
              <a:t>도달 93~100%의 비교가능 실험</a:t>
            </a:r>
            <a:r>
              <a:rPr sz="1800" b="0">
                <a:solidFill>
                  <a:srgbClr val="1F2937"/>
                </a:solidFill>
                <a:latin typeface="Pretendard"/>
                <a:ea typeface="Pretendard"/>
              </a:rPr>
              <a:t>으로 전환했다.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457200" cy="45720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52928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1F2937"/>
                </a:solidFill>
                <a:latin typeface="Pretendard"/>
                <a:ea typeface="Pretendard"/>
              </a:rPr>
              <a:t>신호·연료 인식 경로탐색 가설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Pretendard"/>
                <a:ea typeface="Pretendard"/>
              </a:rPr>
              <a:t>강남 1995노드 실데이터에서 성립 — 신논현 OD-1 연료 −24%(오라클)·−19%(RL)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457200" cy="45720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813048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1F2937"/>
                </a:solidFill>
                <a:latin typeface="Pretendard"/>
                <a:ea typeface="Pretendard"/>
              </a:rPr>
              <a:t>도달성-연료최적성 트레이드오프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Pretendard"/>
                <a:ea typeface="Pretendard"/>
              </a:rPr>
              <a:t>페널티로 OD-3 도달 확보, 연료최적성 일부 양보 → 보상 anneal이 다음 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457200" cy="457200"/>
          </a:xfrm>
          <a:prstGeom prst="round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773168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1F2937"/>
                </a:solidFill>
                <a:latin typeface="Pretendard"/>
                <a:ea typeface="Pretendard"/>
              </a:rPr>
              <a:t>Attention 규모 확장성 한계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Pretendard"/>
                <a:ea typeface="Pretendard"/>
              </a:rPr>
              <a:t>신호 sparse 대규모에서 단순 모델 대비 열위 → 과제 성격이 모델 우열을 결정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E-Nudge Project · 강남구 RL 재실험 v2 · output/08_1412_gangnam_v2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