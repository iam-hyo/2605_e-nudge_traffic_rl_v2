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07 · 실험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강남구 도로망 기반 시뮬레이션 환경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합성 환경에서 더 나아가 DQN 방법론의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실제 도로 일반화 가능성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을 탐색한다.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4572000" cy="46177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Pretendard"/>
                <a:ea typeface="Pretendard"/>
              </a:rPr>
              <a:t>그림 1. 강남구 도로망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Pretendard"/>
                <a:ea typeface="Pretendard"/>
              </a:rPr>
              <a:t>노드=교차로 · 링크=도로구간</a:t>
            </a:r>
          </a:p>
        </p:txBody>
      </p:sp>
      <p:pic>
        <p:nvPicPr>
          <p:cNvPr id="10" name="Picture 9" descr="gn_od1_sinnonhyeon_suseo_full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4023360" cy="40217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286000"/>
            <a:ext cx="1325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40864"/>
            <a:ext cx="1188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Pretendard"/>
                <a:ea typeface="Pretendard"/>
              </a:rPr>
              <a:t>노드 1995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Pretendard"/>
                <a:ea typeface="Pretendard"/>
              </a:rPr>
              <a:t>링크 2439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Pretendard"/>
                <a:ea typeface="Pretendard"/>
              </a:rPr>
              <a:t>신호 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2763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D6CDF"/>
                </a:solidFill>
                <a:latin typeface="Pretendard"/>
                <a:ea typeface="Pretendard"/>
              </a:rPr>
              <a:t>실제 도로망을 노드·링크 환경으로 변환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0574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2039112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Pretendard"/>
                <a:ea typeface="Pretendard"/>
              </a:rPr>
              <a:t>도로 데이터 추출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233172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QGIS로 강남구 노드·링크 CSV 추출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8437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2825496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Pretendard"/>
                <a:ea typeface="Pretendard"/>
              </a:rPr>
              <a:t>노드·링크 구조화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2704" y="3118103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교차로=노드, 도로구간=링크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6301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3611879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Pretendard"/>
                <a:ea typeface="Pretendard"/>
              </a:rPr>
              <a:t>시뮬레이션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4" y="3904487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Pretendard"/>
                <a:ea typeface="Pretendard"/>
              </a:rPr>
              <a:t>노드·링크를 JSON 형태로 변환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4526280"/>
            <a:ext cx="6583680" cy="16002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681728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FB4F5"/>
                </a:solidFill>
                <a:latin typeface="Pretendard"/>
                <a:ea typeface="Pretendard"/>
              </a:rPr>
              <a:t>시뮬레이션 실행 가정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0292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14416" y="51206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1  </a:t>
            </a:r>
            <a:r>
              <a:rPr sz="1100" b="1">
                <a:solidFill>
                  <a:srgbClr val="1F2937"/>
                </a:solidFill>
                <a:latin typeface="Pretendard"/>
                <a:ea typeface="Pretendard"/>
              </a:rPr>
              <a:t>현재 노드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4416" y="539496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Pretendard"/>
                <a:ea typeface="Pretendard"/>
              </a:rPr>
              <a:t>위치·시간·신호·인접링크 속도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50292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51206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2  </a:t>
            </a:r>
            <a:r>
              <a:rPr sz="1100" b="1">
                <a:solidFill>
                  <a:srgbClr val="1F2937"/>
                </a:solidFill>
                <a:latin typeface="Pretendard"/>
                <a:ea typeface="Pretendard"/>
              </a:rPr>
              <a:t>다음 노드 선택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539496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Pretendard"/>
                <a:ea typeface="Pretendard"/>
              </a:rPr>
              <a:t>연결된 인접 노드 중 1개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65792" y="50292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8" y="51206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3  </a:t>
            </a:r>
            <a:r>
              <a:rPr sz="1100" b="1">
                <a:solidFill>
                  <a:srgbClr val="1F2937"/>
                </a:solidFill>
                <a:latin typeface="Pretendard"/>
                <a:ea typeface="Pretendard"/>
              </a:rPr>
              <a:t>주행 결과 계산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539496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Pretendard"/>
                <a:ea typeface="Pretendard"/>
              </a:rPr>
              <a:t>이동·대기시간·연료 누적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07 · 실험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강남 실데이터 환경 및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출근시간 통행 동선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OD 3쌍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과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학습 파라미터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를 소개한다.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Pretendard"/>
                <a:ea typeface="Pretendard"/>
              </a:rPr>
              <a:t>경로 환경 (출근 간선축)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901952" cy="38404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920240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OD-1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1920240"/>
            <a:ext cx="2852928" cy="38404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2576" y="1920240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신논현 → 수서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04288"/>
            <a:ext cx="1901952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304288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직선/주행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2304288"/>
            <a:ext cx="2852928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304288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5.6km / 9.2km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88336"/>
            <a:ext cx="190195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688336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성격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7712" y="2688336"/>
            <a:ext cx="2852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2576" y="2688336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강남대로 정체 vs 우회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29000"/>
            <a:ext cx="1901952" cy="38404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3429000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OD-2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67712" y="3429000"/>
            <a:ext cx="2852928" cy="38404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429000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양재 → 영동대교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13048"/>
            <a:ext cx="1901952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813048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직선/주행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67712" y="3813048"/>
            <a:ext cx="2852928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3813048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4.7km / 6.4km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97096"/>
            <a:ext cx="190195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4197096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성격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7712" y="4197096"/>
            <a:ext cx="2852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197096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강남대로·영동대로 북상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37760"/>
            <a:ext cx="1901952" cy="38404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4937760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OD-3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4937760"/>
            <a:ext cx="2852928" cy="38404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2576" y="4937760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세곡 → 삼성(GBD)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21808"/>
            <a:ext cx="1901952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5321808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직선/주행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5321808"/>
            <a:ext cx="2852928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2576" y="5321808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5.9km / 7.6km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705856"/>
            <a:ext cx="190195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5705856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성격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67712" y="5705856"/>
            <a:ext cx="2852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22576" y="5705856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주거→업무지구, 신호밀집</a:t>
            </a:r>
          </a:p>
        </p:txBody>
      </p:sp>
      <p:pic>
        <p:nvPicPr>
          <p:cNvPr id="44" name="Picture 43" descr="gn_od1_sinnonhyeon_suseo_full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2469875" cy="2468880"/>
          </a:xfrm>
          <a:prstGeom prst="rect">
            <a:avLst/>
          </a:prstGeom>
        </p:spPr>
      </p:pic>
      <p:pic>
        <p:nvPicPr>
          <p:cNvPr id="45" name="Picture 44" descr="gn_od2_yangjae_yeongdong_full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554480"/>
            <a:ext cx="2469875" cy="24688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86400" y="3950208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OD-1 신논현→수서                          OD-2 양재→영동대교  (파랑=거리최단, 주황=연료최단)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224528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Pretendard"/>
                <a:ea typeface="Pretendard"/>
              </a:rPr>
              <a:t>실험 환경 vs 실제 환경 — 파라미터 조정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4553712"/>
            <a:ext cx="1855694" cy="29260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41264" y="4553712"/>
            <a:ext cx="176425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항목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42094" y="4553712"/>
            <a:ext cx="989703" cy="29260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96958" y="4553712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12x12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1797" y="4553712"/>
            <a:ext cx="989703" cy="29260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86661" y="4553712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강남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1501" y="4553712"/>
            <a:ext cx="2474258" cy="29260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6365" y="4553712"/>
            <a:ext cx="238281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조정 이유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4846320"/>
            <a:ext cx="1855694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41264" y="4846320"/>
            <a:ext cx="176425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shaping_weight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42094" y="4846320"/>
            <a:ext cx="989703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96958" y="4846320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500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1797" y="4846320"/>
            <a:ext cx="989703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6661" y="4846320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1500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1501" y="4846320"/>
            <a:ext cx="2474258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6365" y="4846320"/>
            <a:ext cx="238281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step↑·곡률 보정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0" y="5138928"/>
            <a:ext cx="185569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41264" y="5138928"/>
            <a:ext cx="176425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arrival_bonus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42094" y="5138928"/>
            <a:ext cx="98970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96958" y="5138928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1797" y="5138928"/>
            <a:ext cx="98970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86661" y="5138928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700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21501" y="5138928"/>
            <a:ext cx="247425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76365" y="5138928"/>
            <a:ext cx="238281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연료 1500~2500mL 비율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0" y="5431536"/>
            <a:ext cx="1855694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41264" y="5431536"/>
            <a:ext cx="176425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train_max_steps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42094" y="5431536"/>
            <a:ext cx="989703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96958" y="5431536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31797" y="5431536"/>
            <a:ext cx="989703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86661" y="5431536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400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1501" y="5431536"/>
            <a:ext cx="2474258" cy="29260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6365" y="5431536"/>
            <a:ext cx="238281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평균 경로 길이 비례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5724144"/>
            <a:ext cx="185569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41264" y="5724144"/>
            <a:ext cx="176425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episodes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42094" y="5724144"/>
            <a:ext cx="98970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96958" y="5724144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4~6k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31797" y="5724144"/>
            <a:ext cx="98970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86661" y="5724144"/>
            <a:ext cx="8982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15k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21501" y="5724144"/>
            <a:ext cx="247425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76365" y="5724144"/>
            <a:ext cx="238281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큰 환경 학습 길게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08 ·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실험 결과 — 전체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5개 모델 × 3 경로 연료 KPI (peak, 30회 평균).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거리최단 &lt; RL &lt; 연료최단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 경향.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87532" cy="47548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691640"/>
            <a:ext cx="10960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경로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3292" y="1691640"/>
            <a:ext cx="1929740" cy="47548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8156" y="1691640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① 거리최단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3032" y="1691640"/>
            <a:ext cx="2226623" cy="47548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7896" y="1691640"/>
            <a:ext cx="213518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② 연료최단 TDD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9656" y="1691640"/>
            <a:ext cx="2078181" cy="47548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4520" y="1691640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③ rl_base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87837" y="1691640"/>
            <a:ext cx="2078181" cy="47548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2701" y="1691640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④ rl_signal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66019" y="1691640"/>
            <a:ext cx="1929740" cy="475488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0883" y="1691640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⑤ rl_attn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67128"/>
            <a:ext cx="1187532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2167128"/>
            <a:ext cx="10960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OD-1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3292" y="2167128"/>
            <a:ext cx="1929740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8156" y="2167128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1715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83032" y="2167128"/>
            <a:ext cx="2226623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7896" y="2167128"/>
            <a:ext cx="213518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1298 (−24.3%)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09656" y="2167128"/>
            <a:ext cx="2078181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4520" y="2167128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1435 (−16.3%)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87837" y="2167128"/>
            <a:ext cx="2078181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2701" y="2167128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1393 (−18.8%)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66019" y="2167128"/>
            <a:ext cx="1929740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0883" y="2167128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1502 (−12.4%)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42616"/>
            <a:ext cx="11875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2642616"/>
            <a:ext cx="10960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OD-2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3292" y="2642616"/>
            <a:ext cx="19297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8156" y="2642616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1107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3032" y="2642616"/>
            <a:ext cx="2226623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7896" y="2642616"/>
            <a:ext cx="213518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1014 (−8.4%)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09656" y="2642616"/>
            <a:ext cx="2078181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4520" y="2642616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1120 (+1.1%)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87837" y="2642616"/>
            <a:ext cx="2078181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2701" y="2642616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1154 (+4.3%)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66019" y="2642616"/>
            <a:ext cx="19297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0883" y="2642616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1181 (+6.7%)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118104"/>
            <a:ext cx="1187532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3118104"/>
            <a:ext cx="10960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OD-3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3292" y="3118104"/>
            <a:ext cx="1929740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8156" y="3118104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1368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3032" y="3118104"/>
            <a:ext cx="2226623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37896" y="3118104"/>
            <a:ext cx="213518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1290 (−5.7%)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09656" y="3118104"/>
            <a:ext cx="2078181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4520" y="3118104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1357 (−0.8%)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87837" y="3118104"/>
            <a:ext cx="2078181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42701" y="3118104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1457 (+6.5%)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66019" y="3118104"/>
            <a:ext cx="1929740" cy="475488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0883" y="3118104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1468 (+7.3%)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593592"/>
            <a:ext cx="11875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" y="3593592"/>
            <a:ext cx="10960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평균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53292" y="3593592"/>
            <a:ext cx="19297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08156" y="3593592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1342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83032" y="3593592"/>
            <a:ext cx="2226623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37896" y="3593592"/>
            <a:ext cx="213518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1194 (−11.1%)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09656" y="3593592"/>
            <a:ext cx="2078181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4520" y="3593592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1291 (−3.8%)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87837" y="3593592"/>
            <a:ext cx="2078181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2701" y="3593592"/>
            <a:ext cx="198674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1322 (−1.5%)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66019" y="3593592"/>
            <a:ext cx="19297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0883" y="3593592"/>
            <a:ext cx="18383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1347 (+0.4%)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" y="4526280"/>
            <a:ext cx="11430000" cy="1600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" y="4663440"/>
            <a:ext cx="54864" cy="274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6268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실험 결과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4937760"/>
            <a:ext cx="11064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F2937"/>
                </a:solidFill>
                <a:latin typeface="Pretendard"/>
                <a:ea typeface="Pretendard"/>
              </a:rPr>
              <a:t>연료최단 TDD가 거리최단 대비 평균 </a:t>
            </a:r>
            <a:r>
              <a:rPr sz="1250" b="1">
                <a:solidFill>
                  <a:srgbClr val="16A858"/>
                </a:solidFill>
                <a:latin typeface="Pretendard"/>
                <a:ea typeface="Pretendard"/>
              </a:rPr>
              <a:t>−11.1%</a:t>
            </a:r>
            <a:r>
              <a:rPr sz="1250" b="0">
                <a:solidFill>
                  <a:srgbClr val="1F2937"/>
                </a:solidFill>
                <a:latin typeface="Pretendard"/>
                <a:ea typeface="Pretendard"/>
              </a:rPr>
              <a:t> 절감 — 강남 실데이터에서 '거리최소 ≠ 연료최소' 입증.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Pretendard"/>
                <a:ea typeface="Pretendard"/>
              </a:rPr>
              <a:t>• OD-1(신논현)은 신호함정 뚜렷 → </a:t>
            </a:r>
            <a:r>
              <a:rPr sz="1150" b="1">
                <a:solidFill>
                  <a:srgbClr val="1F2937"/>
                </a:solidFill>
                <a:latin typeface="Pretendard"/>
                <a:ea typeface="Pretendard"/>
              </a:rPr>
              <a:t>rl_signal −18.8%</a:t>
            </a:r>
            <a:r>
              <a:rPr sz="1150" b="0">
                <a:solidFill>
                  <a:srgbClr val="5B6472"/>
                </a:solidFill>
                <a:latin typeface="Pretendard"/>
                <a:ea typeface="Pretendard"/>
              </a:rPr>
              <a:t> 로 오라클에 근접.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Pretendard"/>
                <a:ea typeface="Pretendard"/>
              </a:rPr>
              <a:t>• OD-2·OD-3은 신호함정 약함 → RL은 도달하나 연료는 최단과 비슷(페널티로 '도달' 우선 학습).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08 ·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실험 결과 — 경로1 &amp; 경로2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신호 대기 많은 강남에서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신호 회피 경로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가 실제 연료 절감으로 이어지는가.</a:t>
            </a:r>
          </a:p>
        </p:txBody>
      </p:sp>
      <p:pic>
        <p:nvPicPr>
          <p:cNvPr id="7" name="Picture 6" descr="gn_od1_sinnonhyeon_suseo_full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260709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7276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6CDF"/>
                </a:solidFill>
                <a:latin typeface="Pretendard"/>
                <a:ea typeface="Pretendard"/>
              </a:rPr>
              <a:t>경로-1 신논현→수서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43400"/>
            <a:ext cx="1881962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4343400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9162" y="4343400"/>
            <a:ext cx="1254641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4026" y="4343400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연료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3804" y="4343400"/>
            <a:ext cx="1254641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668" y="4343400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vs①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8446" y="4343400"/>
            <a:ext cx="1003713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3310" y="4343400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대기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54296"/>
            <a:ext cx="1881962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4654296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① 거리최단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9162" y="4654296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4026" y="4654296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1715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93804" y="4654296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668" y="4654296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8446" y="4654296"/>
            <a:ext cx="1003713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3310" y="4654296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1174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65192"/>
            <a:ext cx="188196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965192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② 연료최단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9162" y="4965192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94026" y="4965192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2937"/>
                </a:solidFill>
                <a:latin typeface="Pretendard"/>
                <a:ea typeface="Pretendard"/>
              </a:rPr>
              <a:t>1298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3804" y="4965192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668" y="4965192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−24.3%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8446" y="4965192"/>
            <a:ext cx="1003713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3310" y="4965192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76088"/>
            <a:ext cx="1881962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5276088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④ rl_signal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9162" y="5276088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94026" y="5276088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1393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93804" y="5276088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48668" y="5276088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−18.8%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8446" y="5276088"/>
            <a:ext cx="1003713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3310" y="5276088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229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86983"/>
            <a:ext cx="188196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5586983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⑤ rl_attn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9162" y="5586983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94026" y="5586983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1502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93804" y="5586983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48668" y="5586983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−12.4%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8446" y="5586983"/>
            <a:ext cx="1003713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03310" y="5586983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278</a:t>
            </a:r>
          </a:p>
        </p:txBody>
      </p:sp>
      <p:pic>
        <p:nvPicPr>
          <p:cNvPr id="49" name="Picture 48" descr="gn_od2_yangjae_yeongdong_full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2607090" cy="26060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00800" y="157276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6CDF"/>
                </a:solidFill>
                <a:latin typeface="Pretendard"/>
                <a:ea typeface="Pretendard"/>
              </a:rPr>
              <a:t>경로-2 양재→영동대교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343400"/>
            <a:ext cx="1881962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4343400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모델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2762" y="4343400"/>
            <a:ext cx="1254641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7626" y="4343400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연료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37404" y="4343400"/>
            <a:ext cx="1254641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92268" y="4343400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vs①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92046" y="4343400"/>
            <a:ext cx="1003713" cy="310896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46910" y="4343400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대기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654296"/>
            <a:ext cx="1881962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4654296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① 거리최단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82762" y="4654296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7626" y="4654296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1107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37404" y="4654296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92268" y="4654296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792046" y="4654296"/>
            <a:ext cx="1003713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46910" y="4654296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610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965192"/>
            <a:ext cx="188196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55664" y="4965192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② 연료최단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82762" y="4965192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37626" y="4965192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2937"/>
                </a:solidFill>
                <a:latin typeface="Pretendard"/>
                <a:ea typeface="Pretendard"/>
              </a:rPr>
              <a:t>1014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37404" y="4965192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92268" y="4965192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−8.4%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792046" y="4965192"/>
            <a:ext cx="1003713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46910" y="4965192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5276088"/>
            <a:ext cx="1881962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5664" y="5276088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④ rl_signal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82762" y="5276088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37626" y="5276088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1154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37404" y="5276088"/>
            <a:ext cx="1254641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92268" y="5276088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+4.3%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792046" y="5276088"/>
            <a:ext cx="1003713" cy="310896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46910" y="5276088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470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5586983"/>
            <a:ext cx="188196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55664" y="5586983"/>
            <a:ext cx="179052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⑤ rl_attn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82762" y="5586983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37626" y="5586983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1181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37404" y="5586983"/>
            <a:ext cx="125464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92268" y="5586983"/>
            <a:ext cx="11632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+6.7%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792046" y="5586983"/>
            <a:ext cx="1003713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46910" y="5586983"/>
            <a:ext cx="91227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464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08 ·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실험 결과 — 경로3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경로가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같아 보여도 다른 경로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 — 5.7% 연료차의 정체.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" cy="274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5506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D6CDF"/>
                </a:solidFill>
                <a:latin typeface="Pretendard"/>
                <a:ea typeface="Pretendard"/>
              </a:rPr>
              <a:t>결과 해석 — 경로-3 세곡→삼성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749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• 거리최단과 연료최단은 </a:t>
            </a: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같은 corridor 공유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(공통 51노드)이나 </a:t>
            </a:r>
            <a:r>
              <a:rPr sz="1050" b="1">
                <a:solidFill>
                  <a:srgbClr val="1F2937"/>
                </a:solidFill>
                <a:latin typeface="Pretendard"/>
                <a:ea typeface="Pretendard"/>
              </a:rPr>
              <a:t>중간 13노드가 다른 교차로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• 신호등 수 동일(12개), 우회 +92m(+1.2%) — 전체맵 줌엔 겹쳐 보임.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• 연료차 90mL 중 </a:t>
            </a:r>
            <a:r>
              <a:rPr sz="1050" b="1">
                <a:solidFill>
                  <a:srgbClr val="E23B3B"/>
                </a:solidFill>
                <a:latin typeface="Pretendard"/>
                <a:ea typeface="Pretendard"/>
              </a:rPr>
              <a:t>66mL(73%)가 공회전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 — fuel_TDD가 신호 녹색 타이밍 우회로 대기 631→507s(−124s).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→ '거리최소 ≠ 연료최소'가 같은 corridor 내 교차로 선택 미시 수준에서도 성립.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075764" cy="329184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4023360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OD-3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1524" y="4023360"/>
            <a:ext cx="1506070" cy="329184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6388" y="4023360"/>
            <a:ext cx="141463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모델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7595" y="4023360"/>
            <a:ext cx="1075764" cy="329184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459" y="4023360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연료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023360"/>
            <a:ext cx="968188" cy="329184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4023360"/>
            <a:ext cx="8767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vs①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1548" y="4023360"/>
            <a:ext cx="860611" cy="329184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6412" y="4023360"/>
            <a:ext cx="76917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도달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52544"/>
            <a:ext cx="1075764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4352544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441524" y="4352544"/>
            <a:ext cx="1506070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6388" y="4352544"/>
            <a:ext cx="141463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① 거리최단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7595" y="4352544"/>
            <a:ext cx="1075764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2459" y="4352544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1368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352544"/>
            <a:ext cx="968188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4" y="4352544"/>
            <a:ext cx="8767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91548" y="4352544"/>
            <a:ext cx="860611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6412" y="4352544"/>
            <a:ext cx="76917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81728"/>
            <a:ext cx="10757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4681728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441524" y="4681728"/>
            <a:ext cx="150607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6388" y="4681728"/>
            <a:ext cx="141463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2937"/>
                </a:solidFill>
                <a:latin typeface="Pretendard"/>
                <a:ea typeface="Pretendard"/>
              </a:rPr>
              <a:t>② 연료최단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47595" y="4681728"/>
            <a:ext cx="10757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2459" y="4681728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2937"/>
                </a:solidFill>
                <a:latin typeface="Pretendard"/>
                <a:ea typeface="Pretendard"/>
              </a:rPr>
              <a:t>1290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4681728"/>
            <a:ext cx="96818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78224" y="4681728"/>
            <a:ext cx="8767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−5.7%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91548" y="4681728"/>
            <a:ext cx="860611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6412" y="4681728"/>
            <a:ext cx="76917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10912"/>
            <a:ext cx="1075764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5010912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441524" y="5010912"/>
            <a:ext cx="1506070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96388" y="5010912"/>
            <a:ext cx="141463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③ rl_base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47595" y="5010912"/>
            <a:ext cx="1075764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02459" y="5010912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1357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5010912"/>
            <a:ext cx="968188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5010912"/>
            <a:ext cx="8767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−0.8%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91548" y="5010912"/>
            <a:ext cx="860611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46412" y="5010912"/>
            <a:ext cx="76917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93%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340096"/>
            <a:ext cx="10757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5340096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441524" y="5340096"/>
            <a:ext cx="150607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96388" y="5340096"/>
            <a:ext cx="141463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④ rl_signal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47595" y="5340096"/>
            <a:ext cx="10757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02459" y="5340096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1457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340096"/>
            <a:ext cx="96818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78224" y="5340096"/>
            <a:ext cx="8767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+6.5%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1548" y="5340096"/>
            <a:ext cx="860611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46412" y="5340096"/>
            <a:ext cx="76917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669280"/>
            <a:ext cx="1075764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5669280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441524" y="5669280"/>
            <a:ext cx="1506070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96388" y="5669280"/>
            <a:ext cx="141463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⑤ rl_attn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47595" y="5669280"/>
            <a:ext cx="1075764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02459" y="5669280"/>
            <a:ext cx="9843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1468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5669280"/>
            <a:ext cx="968188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78224" y="5669280"/>
            <a:ext cx="8767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+7.3%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91548" y="5669280"/>
            <a:ext cx="860611" cy="329184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46412" y="5669280"/>
            <a:ext cx="76917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pic>
        <p:nvPicPr>
          <p:cNvPr id="71" name="Picture 70" descr="gn_od3_allmodels_full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4568320" cy="45720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126480" y="6144768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Pretendard"/>
                <a:ea typeface="Pretendard"/>
              </a:rPr>
              <a:t>OD-3 5개 모델 주행경로 — rl_signal(빨강)이 동측으로 분기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08 ·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일반화 검증 — 처음 보는 12x12 (held-out)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다중 토폴로지 학습으로 </a:t>
            </a:r>
            <a:r>
              <a:rPr sz="1350" b="1">
                <a:solidFill>
                  <a:srgbClr val="1F2937"/>
                </a:solidFill>
                <a:latin typeface="Pretendard"/>
                <a:ea typeface="Pretendard"/>
              </a:rPr>
              <a:t>전이 실패(0%)를 해결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했으나 </a:t>
            </a:r>
            <a:r>
              <a:rPr sz="1350" b="1">
                <a:solidFill>
                  <a:srgbClr val="E23B3B"/>
                </a:solidFill>
                <a:latin typeface="Pretendard"/>
                <a:ea typeface="Pretendard"/>
              </a:rPr>
              <a:t>강남 특화는 양보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6CDF"/>
                </a:solidFill>
                <a:latin typeface="Pretendard"/>
                <a:ea typeface="Pretendard"/>
              </a:rPr>
              <a:t>12x12 held-out (학습 미포함, 30회)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755648" cy="347472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920240"/>
            <a:ext cx="16642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1920240"/>
            <a:ext cx="1536191" cy="347472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1920240"/>
            <a:ext cx="14447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연료(mL)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920240"/>
            <a:ext cx="1097280" cy="347472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1920240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도달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920240"/>
            <a:ext cx="1097280" cy="347472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1920240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vs단일학습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67712"/>
            <a:ext cx="1755648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267712"/>
            <a:ext cx="16642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① 거리최단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1408" y="2267712"/>
            <a:ext cx="1536191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76272" y="2267712"/>
            <a:ext cx="14447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1226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267712"/>
            <a:ext cx="109728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3" y="2267712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267712"/>
            <a:ext cx="109728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267712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15184"/>
            <a:ext cx="175564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2615184"/>
            <a:ext cx="16642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② 연료최단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1408" y="2615184"/>
            <a:ext cx="153619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2615184"/>
            <a:ext cx="14447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2937"/>
                </a:solidFill>
                <a:latin typeface="Pretendard"/>
                <a:ea typeface="Pretendard"/>
              </a:rPr>
              <a:t>894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2615184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12463" y="2615184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615184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2615184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962656"/>
            <a:ext cx="1755648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2962656"/>
            <a:ext cx="16642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③ rl_base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21408" y="2962656"/>
            <a:ext cx="1536191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76272" y="2962656"/>
            <a:ext cx="14447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3625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2962656"/>
            <a:ext cx="109728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2463" y="2962656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2962656"/>
            <a:ext cx="109728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9744" y="2962656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A858"/>
                </a:solidFill>
                <a:latin typeface="Pretendard"/>
                <a:ea typeface="Pretendard"/>
              </a:rPr>
              <a:t>0%→100%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310127"/>
            <a:ext cx="175564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3310127"/>
            <a:ext cx="16642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④ rl_signal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3310127"/>
            <a:ext cx="153619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76272" y="3310127"/>
            <a:ext cx="14447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2160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3310127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12463" y="3310127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3310127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9744" y="3310127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100%→100%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657599"/>
            <a:ext cx="1755648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" y="3657599"/>
            <a:ext cx="16642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⑤ rl_attn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3657599"/>
            <a:ext cx="1536191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76272" y="3657599"/>
            <a:ext cx="14447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D6CDF"/>
                </a:solidFill>
                <a:latin typeface="Pretendard"/>
                <a:ea typeface="Pretendard"/>
              </a:rPr>
              <a:t>1408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3657599"/>
            <a:ext cx="109728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12463" y="3657599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3657599"/>
            <a:ext cx="109728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9744" y="3657599"/>
            <a:ext cx="10058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A858"/>
                </a:solidFill>
                <a:latin typeface="Pretendard"/>
                <a:ea typeface="Pretendard"/>
              </a:rPr>
              <a:t>0%→100% 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429768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• 단일학습 모델: base·attn </a:t>
            </a:r>
            <a:r>
              <a:rPr sz="1050" b="1">
                <a:solidFill>
                  <a:srgbClr val="E23B3B"/>
                </a:solidFill>
                <a:latin typeface="Pretendard"/>
                <a:ea typeface="Pretendard"/>
              </a:rPr>
              <a:t>12x12서 0% (제자리 회전)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• 다중학습 모델: 전부 </a:t>
            </a: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100% 도달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 — 전이 성공.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• 신호밀집 12x12서 </a:t>
            </a: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attn이 RL 최고(1408)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 → 'attention 가설' 재현.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26480" y="1783080"/>
            <a:ext cx="5669280" cy="4297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1920240"/>
            <a:ext cx="54864" cy="274320"/>
          </a:xfrm>
          <a:prstGeom prst="rect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188366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23B3B"/>
                </a:solidFill>
                <a:latin typeface="Pretendard"/>
                <a:ea typeface="Pretendard"/>
              </a:rPr>
              <a:t>일반화 ↔ 특화 트레이드오프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2331720"/>
            <a:ext cx="2121408" cy="457200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2331720"/>
            <a:ext cx="20299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평가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30768" y="2331720"/>
            <a:ext cx="1591055" cy="457200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85632" y="2331720"/>
            <a:ext cx="14996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단일학습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21824" y="2331720"/>
            <a:ext cx="1591055" cy="457200"/>
          </a:xfrm>
          <a:prstGeom prst="rect">
            <a:avLst/>
          </a:prstGeom>
          <a:solidFill>
            <a:srgbClr val="1B2A4A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76688" y="2331720"/>
            <a:ext cx="14996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다중학습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88920"/>
            <a:ext cx="2121408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2788920"/>
            <a:ext cx="20299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Pretendard"/>
                <a:ea typeface="Pretendard"/>
              </a:rPr>
              <a:t>12x12 held-out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0768" y="2788920"/>
            <a:ext cx="1591055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85632" y="2788920"/>
            <a:ext cx="14996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23B3B"/>
                </a:solidFill>
                <a:latin typeface="Pretendard"/>
                <a:ea typeface="Pretendard"/>
              </a:rPr>
              <a:t>base/attn 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21824" y="2788920"/>
            <a:ext cx="1591055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76688" y="2788920"/>
            <a:ext cx="14996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858"/>
                </a:solidFill>
                <a:latin typeface="Pretendard"/>
                <a:ea typeface="Pretendard"/>
              </a:rPr>
              <a:t>전부 100%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3246120"/>
            <a:ext cx="2121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64224" y="3246120"/>
            <a:ext cx="20299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Pretendard"/>
                <a:ea typeface="Pretendard"/>
              </a:rPr>
              <a:t>강남 3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30768" y="3246120"/>
            <a:ext cx="15910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85632" y="3246120"/>
            <a:ext cx="14996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858"/>
                </a:solidFill>
                <a:latin typeface="Pretendard"/>
                <a:ea typeface="Pretendard"/>
              </a:rPr>
              <a:t>93~100%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21824" y="3246120"/>
            <a:ext cx="15910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76688" y="3246120"/>
            <a:ext cx="14996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23B3B"/>
                </a:solidFill>
                <a:latin typeface="Pretendard"/>
                <a:ea typeface="Pretendard"/>
              </a:rPr>
              <a:t>0~10%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411480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• 다중학습은 random-route로 강남 깊이 특화를 잃어 </a:t>
            </a:r>
            <a:r>
              <a:rPr sz="1050" b="1">
                <a:solidFill>
                  <a:srgbClr val="E23B3B"/>
                </a:solidFill>
                <a:latin typeface="Pretendard"/>
                <a:ea typeface="Pretendard"/>
              </a:rPr>
              <a:t>강남 긴 OD 퇴행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Pretendard"/>
                <a:ea typeface="Pretendard"/>
              </a:rPr>
              <a:t>• 처음 보는 환경 강건성 ↑ ↔ in-domain 최적성 ↓.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→ 다음: 강남 fixed-OD 미세조정 병행, 또는 토폴로지별 head 분리로 둘 다 확보.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08 ·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신호·연료 인식 경로탐색이 단순 최단거리 대비 연료 최대 </a:t>
            </a:r>
            <a:r>
              <a:rPr sz="1350" b="1">
                <a:solidFill>
                  <a:srgbClr val="E23B3B"/>
                </a:solidFill>
                <a:latin typeface="Pretendard"/>
                <a:ea typeface="Pretendard"/>
              </a:rPr>
              <a:t>20% 절감</a:t>
            </a: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함을 입증.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4650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D6CD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830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937"/>
                </a:solidFill>
                <a:latin typeface="Pretendard"/>
                <a:ea typeface="Pretendard"/>
              </a:rPr>
              <a:t>신호 반영 경로탐색 = 16.6% 절감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830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B6472"/>
                </a:solidFill>
                <a:latin typeface="Pretendard"/>
                <a:ea typeface="Pretendard"/>
              </a:rPr>
              <a:t>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58568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차량 2·5부제는 운행 강제 제한, 일 연료 3~4% 절감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1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본 모델은 경로만 바꿔 제한 없이 16.6% 절감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55848"/>
            <a:ext cx="5257800" cy="292608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55848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→ 정책 효과의 4~5배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4650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D6CD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830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937"/>
                </a:solidFill>
                <a:latin typeface="Pretendard"/>
                <a:ea typeface="Pretendard"/>
              </a:rPr>
              <a:t>한화 약 1.3억 원/일 절감효과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17830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B6472"/>
                </a:solidFill>
                <a:latin typeface="Pretendard"/>
                <a:ea typeface="Pretendard"/>
              </a:rPr>
              <a:t>경제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58568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16.6%는 일 소비 59.3만 배럴 기준 약 10만 배럴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1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전체 차량 10%만 적용해도 1만 배럴 절감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355848"/>
            <a:ext cx="5257800" cy="292608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355848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→ 한화 약 1.3억 원/일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886200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3250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D6CD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690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937"/>
                </a:solidFill>
                <a:latin typeface="Pretendard"/>
                <a:ea typeface="Pretendard"/>
              </a:rPr>
              <a:t>운전 1회 1L, 연 10만 원 절감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0690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B6472"/>
                </a:solidFill>
                <a:latin typeface="Pretendard"/>
                <a:ea typeface="Pretendard"/>
              </a:rPr>
              <a:t>개인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544568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거리최단은 신호정체로 느림 → 우회로가 연료·시간 동시 단축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65192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1회 1L = 연 약 10만 원(출퇴근 44회)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641848"/>
            <a:ext cx="5257800" cy="292608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41848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→ 더 빠르면서 기름값까지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886200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3250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D6CD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0690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2937"/>
                </a:solidFill>
                <a:latin typeface="Pretendard"/>
                <a:ea typeface="Pretendard"/>
              </a:rPr>
              <a:t>국내 도로망 전체 적용 — 전국 확장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40690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B6472"/>
                </a:solidFill>
                <a:latin typeface="Pretendard"/>
                <a:ea typeface="Pretendard"/>
              </a:rPr>
              <a:t>기술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44568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국가교통 데이터 사용 → 서울·전국 확장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65192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16.6% 절감률을 서울 통행량에 적용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5641848"/>
            <a:ext cx="5257800" cy="292608"/>
          </a:xfrm>
          <a:prstGeom prst="roundRect">
            <a:avLst>
              <a:gd name="adj" fmla="val 3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5641848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→ 수송부문 에너지 절감 기여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08 ·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한계점 · 향후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3268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B6472"/>
                </a:solidFill>
                <a:latin typeface="Pretendard"/>
                <a:ea typeface="Pretendard"/>
              </a:rPr>
              <a:t>본 연구의 사회·기술적 임팩트와 한계 · 향후 과제.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1. 여러 환경 성능 보장?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0280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속도: 링크 연결 구조 따라 상이한 결과 여지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81528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23B3B"/>
                </a:solidFill>
                <a:latin typeface="Pretendard"/>
                <a:ea typeface="Pretendard"/>
              </a:rPr>
              <a:t>• </a:t>
            </a:r>
            <a:r>
              <a:rPr sz="1050" b="1">
                <a:solidFill>
                  <a:srgbClr val="E23B3B"/>
                </a:solidFill>
                <a:latin typeface="Pretendard"/>
                <a:ea typeface="Pretendard"/>
              </a:rPr>
              <a:t>신호: 밀도·연동 체계 지역마다 달라 일반화 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22776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→ 20% 같은 절대수치 일반 신뢰 어려움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2. 실제 도로 변수 반영?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40280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끼어들기·보행자·돌발 등 교통변수로 시나리오 주행 어려움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081528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개별 차량 상호작용 미반영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922776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• </a:t>
            </a: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→ 미시 교통변수 명시 시뮬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0020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6CDF"/>
                </a:solidFill>
                <a:latin typeface="Pretendard"/>
                <a:ea typeface="Pretendard"/>
              </a:rPr>
              <a:t>3. 경량 예측모델 VT-Micro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240280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경량 모델로 가벼운 실행이 장점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081528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D6CDF"/>
                </a:solidFill>
                <a:latin typeface="Pretendard"/>
                <a:ea typeface="Pretendard"/>
              </a:rPr>
              <a:t>• </a:t>
            </a:r>
            <a:r>
              <a:rPr sz="1050" b="0">
                <a:solidFill>
                  <a:srgbClr val="1F2937"/>
                </a:solidFill>
                <a:latin typeface="Pretendard"/>
                <a:ea typeface="Pretendard"/>
              </a:rPr>
              <a:t>실험 차량군 기반 → 모든 차종 보편 모델 아님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922776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• </a:t>
            </a:r>
            <a:r>
              <a:rPr sz="1050" b="1">
                <a:solidFill>
                  <a:srgbClr val="16A858"/>
                </a:solidFill>
                <a:latin typeface="Pretendard"/>
                <a:ea typeface="Pretendard"/>
              </a:rPr>
              <a:t>→ 경사·적재·날씨 반영 상위모델로 정확도↑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21208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다양한 도로 환경 + 실제 교통 변수(차량 상호작용·보행자)를 반영한 추가 검증이 요구된다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" y="274320"/>
            <a:ext cx="54864" cy="3840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CDF"/>
                </a:solidFill>
                <a:latin typeface="Pretendard"/>
                <a:ea typeface="Pretendard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6576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F2937"/>
                </a:solidFill>
                <a:latin typeface="Pretendard"/>
                <a:ea typeface="Pretendard"/>
              </a:rPr>
              <a:t>참고 문헌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[1] 에너지경제연구원 (2026.04.10). 「차량 운행 제한 및 재택근무 시행에 따른 석유제품 수요 절감 효과」. 보도자료.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95144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[2] 연합뉴스 (2026.03.11). 「기름값 싼 주유소에 차 수십 대 몰려…'원정 주유'도 성행」. 보도자료.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[3] U.S. EPA (n.d.). Your Mileage May Vary. Green Vehicle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1927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[4] U.S. DOE (n.d.). Driving Habits. FuelEconomy.gov.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31335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[5] Wu et al. (2015). The Influence of Intersections on Fuel Consumption in Urban Road Traffic. PMC.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[6] Davenport, C. (2021.05.18). Google Maps eco-friendly and safety features. XDA.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55464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[7] NACTO. Urban Street Design Guide — Intersection Design / Corner Radii.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675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Pretendard"/>
                <a:ea typeface="Pretendard"/>
              </a:rPr>
              <a:t>[8] FHWA. Handbook for Designing Roadways for the Aging Population, Jalali Khalilabadi et al. (2025).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55664"/>
            <a:ext cx="8229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Fuel-Optimal Routing · 강화학습 기반 연료소비 최소화 경로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Pretendard"/>
                <a:ea typeface="Pretendard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